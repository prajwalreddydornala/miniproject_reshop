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6" r:id="rId9"/>
    <p:sldId id="268" r:id="rId10"/>
    <p:sldId id="269" r:id="rId11"/>
    <p:sldId id="270" r:id="rId12"/>
    <p:sldId id="271" r:id="rId13"/>
    <p:sldId id="272" r:id="rId14"/>
    <p:sldId id="274" r:id="rId15"/>
    <p:sldId id="275" r:id="rId16"/>
    <p:sldId id="276" r:id="rId17"/>
    <p:sldId id="278" r:id="rId18"/>
    <p:sldId id="279" r:id="rId19"/>
    <p:sldId id="277" r:id="rId20"/>
    <p:sldId id="280" r:id="rId21"/>
    <p:sldId id="281"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2293-63D9-41D1-A6C9-893A24352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1D3780-15FA-4EF9-8E1D-EADD52B9F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1BD9DE-633C-4D20-BC3B-2D39D7E1AB66}"/>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4C19A1AC-C23D-4A37-A24D-E25E99E2D6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FC3412-6732-4E48-8485-058A8BFA26DF}"/>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1158215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D537-A2E7-4B93-9209-AA858149C4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55AC48-2729-4216-AF72-67A6178E84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CF6F7-BAF7-45CE-9BD4-A15B52B297E9}"/>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DE393476-D0F7-4290-8D41-C2C38B4F8F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B0D89E-EF37-45F8-AC3E-B680DB6EAB4C}"/>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193003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3FFBC-EF66-40BA-857D-4498B74233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995072-B5CE-46A9-AB4F-69D52B5EAB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8C7DEC-848D-4FCE-AC10-BA67664438BD}"/>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449D82BB-AD60-4177-B09A-ED8D33A089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A2EBB8-A423-48B2-BDFD-3522D9A5C309}"/>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1485289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01241-3663-4AF5-B8AE-173D9B9863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C51155-8828-481A-A9E5-952DB56613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3A0800-FC95-4378-A672-D132F4C9C9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AD1C51-0A95-447F-913D-0838F21CC14C}"/>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6" name="Footer Placeholder 5">
            <a:extLst>
              <a:ext uri="{FF2B5EF4-FFF2-40B4-BE49-F238E27FC236}">
                <a16:creationId xmlns:a16="http://schemas.microsoft.com/office/drawing/2014/main" id="{7177233C-E6DF-4AFC-AB46-030D225422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B44FF8-829C-493E-8B4F-F1495677296E}"/>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372141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B5A32-4A93-4C6B-83ED-F90E132F9E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89896A-F561-457B-B7DD-F21B0C9781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0EE7BE-A9A3-46D5-9426-D15FE873B6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B43CC4-D346-406B-BF33-F1D6544A3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DCA9D7-C967-4881-AEBC-30644E2666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74F542-251C-447D-A530-DA7A56FAD179}"/>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8" name="Footer Placeholder 7">
            <a:extLst>
              <a:ext uri="{FF2B5EF4-FFF2-40B4-BE49-F238E27FC236}">
                <a16:creationId xmlns:a16="http://schemas.microsoft.com/office/drawing/2014/main" id="{98310CA5-AC3A-4382-809E-0B65F9A4F8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A80C71-EE21-4012-AFB9-DC0A1E179381}"/>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138752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CA3E4-55F3-4355-9814-0D2D0B2063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AF4BCD-3162-44B9-979D-098E22DCB568}"/>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4" name="Footer Placeholder 3">
            <a:extLst>
              <a:ext uri="{FF2B5EF4-FFF2-40B4-BE49-F238E27FC236}">
                <a16:creationId xmlns:a16="http://schemas.microsoft.com/office/drawing/2014/main" id="{63B2505C-60BF-4F1D-89DC-DFCCAE47A5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E0E0EC-ED8E-4FC2-A4FF-0C8934374BCC}"/>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4161658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A3DFA-AF2A-48DB-A25A-237E12A76F0E}"/>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3" name="Footer Placeholder 2">
            <a:extLst>
              <a:ext uri="{FF2B5EF4-FFF2-40B4-BE49-F238E27FC236}">
                <a16:creationId xmlns:a16="http://schemas.microsoft.com/office/drawing/2014/main" id="{C590A6DF-02D2-4148-9AEB-E9A3AFF025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FA116B-1CDE-45E5-B143-7C29766FF179}"/>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243203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DE21A-A342-46D1-94FB-3EF599133E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AF4143-078A-48C4-A7C1-7F6CE4D6D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0BC300-E872-452C-B3BF-ACCF1524E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0A7561-D0F0-42F4-97AD-D136558D74E6}"/>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6" name="Footer Placeholder 5">
            <a:extLst>
              <a:ext uri="{FF2B5EF4-FFF2-40B4-BE49-F238E27FC236}">
                <a16:creationId xmlns:a16="http://schemas.microsoft.com/office/drawing/2014/main" id="{E98EB971-BAF0-4413-8CE6-1553DDADDA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007E09-ECAB-4207-B1FE-8E356DBA3801}"/>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230158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9C5AC-AF43-4B97-8E8A-504D3EDCF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40B6AD-AC7F-483B-96DF-449CC3B27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8F6B05E-5F22-4F1A-9441-54C84D1415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4D836B-1632-4E7A-93E1-126FC7CCD3C2}"/>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6" name="Footer Placeholder 5">
            <a:extLst>
              <a:ext uri="{FF2B5EF4-FFF2-40B4-BE49-F238E27FC236}">
                <a16:creationId xmlns:a16="http://schemas.microsoft.com/office/drawing/2014/main" id="{1F2D866A-604E-461B-BB0B-55BF7010C2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DDB35F-C7A3-4A66-AB42-EE6A3784B1E9}"/>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1111051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E49D-B54B-4E53-97C0-F0E66A2ACC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FE298B-D0E6-4854-820E-349247AF7C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9E5F6F-D37C-4D0F-A96F-63E45D120066}"/>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774C7B57-CFC8-46C7-92F8-B5BDA8265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B406B-24D0-4B1B-B6D6-7E7F3B31463D}"/>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2994045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7F32C0-4B2B-4FC5-BDD8-8A5B0F22F2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1F58B6-1C78-4907-BC84-5AC87B2D3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49C7CF-34F5-4139-B379-28D5B33AF458}"/>
              </a:ext>
            </a:extLst>
          </p:cNvPr>
          <p:cNvSpPr>
            <a:spLocks noGrp="1"/>
          </p:cNvSpPr>
          <p:nvPr>
            <p:ph type="dt" sz="half" idx="10"/>
          </p:nvPr>
        </p:nvSpPr>
        <p:spPr/>
        <p:txBody>
          <a:body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F3375E1C-1948-451C-8954-022AB9A19A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1474B-E54A-4FDE-A144-C4AFEACA2AEE}"/>
              </a:ext>
            </a:extLst>
          </p:cNvPr>
          <p:cNvSpPr>
            <a:spLocks noGrp="1"/>
          </p:cNvSpPr>
          <p:nvPr>
            <p:ph type="sldNum" sz="quarter" idx="12"/>
          </p:nvPr>
        </p:nvSpPr>
        <p:spPr/>
        <p:txBody>
          <a:bodyPr/>
          <a:lstStyle/>
          <a:p>
            <a:fld id="{55D1DD30-24C5-4977-9CF1-CB622D0745B3}" type="slidenum">
              <a:rPr lang="en-IN" smtClean="0"/>
              <a:t>‹#›</a:t>
            </a:fld>
            <a:endParaRPr lang="en-IN"/>
          </a:p>
        </p:txBody>
      </p:sp>
    </p:spTree>
    <p:extLst>
      <p:ext uri="{BB962C8B-B14F-4D97-AF65-F5344CB8AC3E}">
        <p14:creationId xmlns:p14="http://schemas.microsoft.com/office/powerpoint/2010/main" val="949159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BF6883-75B6-40CF-9D5D-B74954546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3BFFB0-61B4-4937-B174-F031825704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E1385E-E2FE-4D85-8D4F-9153907AA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C531A9-53F9-4398-9871-701F821D6663}" type="datetimeFigureOut">
              <a:rPr lang="en-IN" smtClean="0"/>
              <a:t>27-12-2021</a:t>
            </a:fld>
            <a:endParaRPr lang="en-IN"/>
          </a:p>
        </p:txBody>
      </p:sp>
      <p:sp>
        <p:nvSpPr>
          <p:cNvPr id="5" name="Footer Placeholder 4">
            <a:extLst>
              <a:ext uri="{FF2B5EF4-FFF2-40B4-BE49-F238E27FC236}">
                <a16:creationId xmlns:a16="http://schemas.microsoft.com/office/drawing/2014/main" id="{BA819E39-D870-460E-8FFA-FAF6B3C892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B1991D-9A5D-44F1-BB4F-04ABC2C2C4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D1DD30-24C5-4977-9CF1-CB622D0745B3}" type="slidenum">
              <a:rPr lang="en-IN" smtClean="0"/>
              <a:t>‹#›</a:t>
            </a:fld>
            <a:endParaRPr lang="en-IN"/>
          </a:p>
        </p:txBody>
      </p:sp>
    </p:spTree>
    <p:extLst>
      <p:ext uri="{BB962C8B-B14F-4D97-AF65-F5344CB8AC3E}">
        <p14:creationId xmlns:p14="http://schemas.microsoft.com/office/powerpoint/2010/main" val="2470906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s://ieeexplore-ieee-org-vce.knimbus.com/document/6836757" TargetMode="External"/><Relationship Id="rId3" Type="http://schemas.openxmlformats.org/officeDocument/2006/relationships/hyperlink" Target="https://getbootstrap.com/docs/4.1/getting-started/introduction/" TargetMode="External"/><Relationship Id="rId7" Type="http://schemas.openxmlformats.org/officeDocument/2006/relationships/hyperlink" Target="https://ieeexplore-ieee-org-vce.knimbus.com/document/7941952" TargetMode="External"/><Relationship Id="rId2" Type="http://schemas.openxmlformats.org/officeDocument/2006/relationships/hyperlink" Target="https://www.php.net/docs.php" TargetMode="External"/><Relationship Id="rId1" Type="http://schemas.openxmlformats.org/officeDocument/2006/relationships/slideLayout" Target="../slideLayouts/slideLayout1.xml"/><Relationship Id="rId6" Type="http://schemas.openxmlformats.org/officeDocument/2006/relationships/hyperlink" Target="http://asp.net/ajax" TargetMode="External"/><Relationship Id="rId5" Type="http://schemas.openxmlformats.org/officeDocument/2006/relationships/hyperlink" Target="http://www.newegg.com/" TargetMode="External"/><Relationship Id="rId4" Type="http://schemas.openxmlformats.org/officeDocument/2006/relationships/hyperlink" Target="https://www.sih.gov.in/sih2020PS" TargetMode="External"/><Relationship Id="rId9" Type="http://schemas.openxmlformats.org/officeDocument/2006/relationships/hyperlink" Target="https://ieeexplore.ieee.org/document/557162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B9C7-34E3-43CF-9096-64E71CC97A5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F67AE13-4C3A-46ED-8BC1-084BE4D0CF80}"/>
              </a:ext>
            </a:extLst>
          </p:cNvPr>
          <p:cNvSpPr>
            <a:spLocks noGrp="1"/>
          </p:cNvSpPr>
          <p:nvPr>
            <p:ph type="subTitle" idx="1"/>
          </p:nvPr>
        </p:nvSpPr>
        <p:spPr>
          <a:xfrm>
            <a:off x="7249886" y="5074914"/>
            <a:ext cx="4033935" cy="808037"/>
          </a:xfrm>
        </p:spPr>
        <p:txBody>
          <a:bodyPr>
            <a:noAutofit/>
          </a:bodyPr>
          <a:lstStyle/>
          <a:p>
            <a:r>
              <a:rPr lang="en-US" sz="1800" dirty="0"/>
              <a:t>BY </a:t>
            </a:r>
          </a:p>
          <a:p>
            <a:r>
              <a:rPr lang="en-US" sz="1800" dirty="0"/>
              <a:t>D. PRAJWAL REDDY – 086</a:t>
            </a:r>
          </a:p>
          <a:p>
            <a:r>
              <a:rPr lang="en-IN" sz="1800" dirty="0"/>
              <a:t>B. RAHUL – 087</a:t>
            </a:r>
          </a:p>
          <a:p>
            <a:r>
              <a:rPr lang="en-IN" sz="1800" dirty="0"/>
              <a:t>J . PRANAVI –184</a:t>
            </a:r>
          </a:p>
        </p:txBody>
      </p:sp>
      <p:pic>
        <p:nvPicPr>
          <p:cNvPr id="1026" name="Picture 2" descr="Sell or give away used goods on ReShop.ph">
            <a:extLst>
              <a:ext uri="{FF2B5EF4-FFF2-40B4-BE49-F238E27FC236}">
                <a16:creationId xmlns:a16="http://schemas.microsoft.com/office/drawing/2014/main" id="{23354EC6-F3C2-4EBC-861D-F86B579E03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62163"/>
            <a:ext cx="6858000" cy="273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026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3" name="Subtitle 2">
            <a:extLst>
              <a:ext uri="{FF2B5EF4-FFF2-40B4-BE49-F238E27FC236}">
                <a16:creationId xmlns:a16="http://schemas.microsoft.com/office/drawing/2014/main" id="{25B7F35D-E86C-469C-B269-89CA59D0A75E}"/>
              </a:ext>
            </a:extLst>
          </p:cNvPr>
          <p:cNvSpPr>
            <a:spLocks noGrp="1"/>
          </p:cNvSpPr>
          <p:nvPr>
            <p:ph type="subTitle" idx="1"/>
          </p:nvPr>
        </p:nvSpPr>
        <p:spPr>
          <a:xfrm>
            <a:off x="1304925" y="1952625"/>
            <a:ext cx="9363075" cy="3305175"/>
          </a:xfrm>
        </p:spPr>
        <p:txBody>
          <a:bodyPr>
            <a:normAutofit/>
          </a:bodyPr>
          <a:lstStyle/>
          <a:p>
            <a:pPr algn="just"/>
            <a:r>
              <a:rPr lang="en-IN" sz="1800" dirty="0">
                <a:solidFill>
                  <a:srgbClr val="000000"/>
                </a:solidFill>
                <a:effectLst/>
                <a:latin typeface="Times New Roman" panose="02020603050405020304" pitchFamily="18" charset="0"/>
                <a:ea typeface="Times New Roman" panose="02020603050405020304" pitchFamily="18" charset="0"/>
              </a:rPr>
              <a:t>Home-made Textile Waste management is still a hazardous problem that has been ignored and </a:t>
            </a:r>
            <a:r>
              <a:rPr lang="en-IN" sz="1800" dirty="0" err="1">
                <a:solidFill>
                  <a:srgbClr val="000000"/>
                </a:solidFill>
                <a:effectLst/>
                <a:latin typeface="Times New Roman" panose="02020603050405020304" pitchFamily="18" charset="0"/>
                <a:ea typeface="Times New Roman" panose="02020603050405020304" pitchFamily="18" charset="0"/>
              </a:rPr>
              <a:t>untackled</a:t>
            </a:r>
            <a:r>
              <a:rPr lang="en-IN" sz="1800" dirty="0">
                <a:solidFill>
                  <a:srgbClr val="000000"/>
                </a:solidFill>
                <a:effectLst/>
                <a:latin typeface="Times New Roman" panose="02020603050405020304" pitchFamily="18" charset="0"/>
                <a:ea typeface="Times New Roman" panose="02020603050405020304" pitchFamily="18" charset="0"/>
              </a:rPr>
              <a:t> since ages.  </a:t>
            </a:r>
            <a:r>
              <a:rPr lang="en-US" sz="1800" dirty="0">
                <a:solidFill>
                  <a:srgbClr val="000000"/>
                </a:solidFill>
                <a:effectLst/>
                <a:latin typeface="Times New Roman" panose="02020603050405020304" pitchFamily="18" charset="0"/>
                <a:ea typeface="Times New Roman" panose="02020603050405020304" pitchFamily="18" charset="0"/>
              </a:rPr>
              <a:t>India Produces 1 million ton of such household textile waste, ending up in landfills. </a:t>
            </a:r>
            <a:r>
              <a:rPr lang="en-US" sz="1800" dirty="0" err="1">
                <a:solidFill>
                  <a:srgbClr val="000000"/>
                </a:solidFill>
                <a:effectLst/>
                <a:latin typeface="Times New Roman" panose="02020603050405020304" pitchFamily="18" charset="0"/>
                <a:ea typeface="Times New Roman" panose="02020603050405020304" pitchFamily="18" charset="0"/>
              </a:rPr>
              <a:t>Reshop</a:t>
            </a:r>
            <a:r>
              <a:rPr lang="en-US" sz="1800" dirty="0">
                <a:solidFill>
                  <a:srgbClr val="000000"/>
                </a:solidFill>
                <a:effectLst/>
                <a:latin typeface="Times New Roman" panose="02020603050405020304" pitchFamily="18" charset="0"/>
                <a:ea typeface="Times New Roman" panose="02020603050405020304" pitchFamily="18" charset="0"/>
              </a:rPr>
              <a:t> is a sustainable, environment friendly web application addressing societal problems such as fast fashion, landfills etc.     </a:t>
            </a:r>
            <a:endParaRPr lang="en-IN" sz="1800" dirty="0">
              <a:solidFill>
                <a:srgbClr val="000000"/>
              </a:solidFill>
              <a:effectLst/>
              <a:latin typeface="Times New Roman" panose="02020603050405020304" pitchFamily="18" charset="0"/>
              <a:ea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6B9ACAF-F56E-4CB4-B8B9-3FCA857480DF}"/>
              </a:ext>
            </a:extLst>
          </p:cNvPr>
          <p:cNvSpPr/>
          <p:nvPr/>
        </p:nvSpPr>
        <p:spPr>
          <a:xfrm flipV="1">
            <a:off x="0" y="0"/>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364637" y="334592"/>
            <a:ext cx="5681709" cy="769441"/>
          </a:xfrm>
          <a:prstGeom prst="rect">
            <a:avLst/>
          </a:prstGeom>
          <a:noFill/>
        </p:spPr>
        <p:txBody>
          <a:bodyPr wrap="square" rtlCol="0">
            <a:spAutoFit/>
          </a:bodyPr>
          <a:lstStyle/>
          <a:p>
            <a:r>
              <a:rPr lang="en-IN" sz="4400" b="1" dirty="0">
                <a:solidFill>
                  <a:schemeClr val="bg1"/>
                </a:solidFill>
                <a:latin typeface="Arial" panose="020B0604020202020204" pitchFamily="34" charset="0"/>
                <a:cs typeface="Arial" panose="020B0604020202020204" pitchFamily="34" charset="0"/>
              </a:rPr>
              <a:t>Problem Statement</a:t>
            </a:r>
          </a:p>
        </p:txBody>
      </p:sp>
    </p:spTree>
    <p:extLst>
      <p:ext uri="{BB962C8B-B14F-4D97-AF65-F5344CB8AC3E}">
        <p14:creationId xmlns:p14="http://schemas.microsoft.com/office/powerpoint/2010/main" val="236886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3" name="Subtitle 2">
            <a:extLst>
              <a:ext uri="{FF2B5EF4-FFF2-40B4-BE49-F238E27FC236}">
                <a16:creationId xmlns:a16="http://schemas.microsoft.com/office/drawing/2014/main" id="{25B7F35D-E86C-469C-B269-89CA59D0A75E}"/>
              </a:ext>
            </a:extLst>
          </p:cNvPr>
          <p:cNvSpPr>
            <a:spLocks noGrp="1"/>
          </p:cNvSpPr>
          <p:nvPr>
            <p:ph type="subTitle" idx="1"/>
          </p:nvPr>
        </p:nvSpPr>
        <p:spPr>
          <a:xfrm>
            <a:off x="1304925" y="1952625"/>
            <a:ext cx="9363075" cy="3305175"/>
          </a:xfrm>
        </p:spPr>
        <p:txBody>
          <a:bodyPr>
            <a:normAutofit/>
          </a:bodyPr>
          <a:lstStyle/>
          <a:p>
            <a:pPr algn="just"/>
            <a:r>
              <a:rPr lang="en-US" sz="2000" b="1" dirty="0">
                <a:latin typeface="Times New Roman" panose="02020603050405020304" pitchFamily="18" charset="0"/>
                <a:cs typeface="Times New Roman" panose="02020603050405020304" pitchFamily="18" charset="0"/>
              </a:rPr>
              <a:t>Main Objective:</a:t>
            </a:r>
          </a:p>
          <a:p>
            <a:pPr algn="just"/>
            <a:r>
              <a:rPr lang="en-IN" sz="1800" dirty="0">
                <a:solidFill>
                  <a:srgbClr val="000000"/>
                </a:solidFill>
                <a:effectLst/>
                <a:latin typeface="Times New Roman" panose="02020603050405020304" pitchFamily="18" charset="0"/>
                <a:ea typeface="Times New Roman" panose="02020603050405020304" pitchFamily="18" charset="0"/>
              </a:rPr>
              <a:t>The Main Objective of this Project is to bring platform to many people who own abundant quantity of minimal used redundant clothes. This also serves to people who are interested in buying clothes at cheaper prices just for occasions or daily usage.</a:t>
            </a: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Specific Objectives:</a:t>
            </a:r>
          </a:p>
          <a:p>
            <a:pPr marL="342900" indent="-34290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Reshop</a:t>
            </a:r>
            <a:r>
              <a:rPr lang="en-US" sz="2000" dirty="0">
                <a:latin typeface="Times New Roman" panose="02020603050405020304" pitchFamily="18" charset="0"/>
                <a:cs typeface="Times New Roman" panose="02020603050405020304" pitchFamily="18" charset="0"/>
              </a:rPr>
              <a:t> is a sustainable, environment friendly web application addressing societal problems such as fast fashion, landfills etc. </a:t>
            </a:r>
          </a:p>
          <a:p>
            <a:pPr marL="342900" indent="-342900" algn="just">
              <a:buFont typeface="Arial" panose="020B0604020202020204" pitchFamily="34" charset="0"/>
              <a:buChar char="•"/>
            </a:pPr>
            <a:r>
              <a:rPr lang="en-IN" sz="1800" dirty="0">
                <a:solidFill>
                  <a:srgbClr val="000000"/>
                </a:solidFill>
                <a:effectLst/>
                <a:latin typeface="Times New Roman" panose="02020603050405020304" pitchFamily="18" charset="0"/>
                <a:ea typeface="Times New Roman" panose="02020603050405020304" pitchFamily="18" charset="0"/>
              </a:rPr>
              <a:t>Our Project Provides platform for everyone to re-sell old clothes or for needy to buy at cheaper prices. </a:t>
            </a:r>
            <a:r>
              <a:rPr lang="en-US" sz="2000" dirty="0">
                <a:latin typeface="Times New Roman" panose="02020603050405020304" pitchFamily="18" charset="0"/>
                <a:cs typeface="Times New Roman" panose="02020603050405020304" pitchFamily="18" charset="0"/>
              </a:rPr>
              <a:t> </a:t>
            </a:r>
          </a:p>
          <a:p>
            <a:pPr algn="just"/>
            <a:endParaRPr lang="en-IN"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6B9ACAF-F56E-4CB4-B8B9-3FCA857480DF}"/>
              </a:ext>
            </a:extLst>
          </p:cNvPr>
          <p:cNvSpPr/>
          <p:nvPr/>
        </p:nvSpPr>
        <p:spPr>
          <a:xfrm flipV="1">
            <a:off x="0" y="0"/>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255145" y="315836"/>
            <a:ext cx="5681709"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Objective</a:t>
            </a:r>
          </a:p>
        </p:txBody>
      </p:sp>
    </p:spTree>
    <p:extLst>
      <p:ext uri="{BB962C8B-B14F-4D97-AF65-F5344CB8AC3E}">
        <p14:creationId xmlns:p14="http://schemas.microsoft.com/office/powerpoint/2010/main" val="272030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3" name="Subtitle 2">
            <a:extLst>
              <a:ext uri="{FF2B5EF4-FFF2-40B4-BE49-F238E27FC236}">
                <a16:creationId xmlns:a16="http://schemas.microsoft.com/office/drawing/2014/main" id="{25B7F35D-E86C-469C-B269-89CA59D0A75E}"/>
              </a:ext>
            </a:extLst>
          </p:cNvPr>
          <p:cNvSpPr>
            <a:spLocks noGrp="1"/>
          </p:cNvSpPr>
          <p:nvPr>
            <p:ph type="subTitle" idx="1"/>
          </p:nvPr>
        </p:nvSpPr>
        <p:spPr>
          <a:xfrm>
            <a:off x="656948" y="1735706"/>
            <a:ext cx="10715348" cy="4460907"/>
          </a:xfrm>
        </p:spPr>
        <p:txBody>
          <a:bodyPr>
            <a:noAutofit/>
          </a:bodyPr>
          <a:lstStyle/>
          <a:p>
            <a:pPr algn="just"/>
            <a:r>
              <a:rPr lang="en-US" sz="1800" dirty="0">
                <a:solidFill>
                  <a:srgbClr val="000000"/>
                </a:solidFill>
                <a:effectLst/>
                <a:latin typeface="Times New Roman" panose="02020603050405020304" pitchFamily="18" charset="0"/>
                <a:ea typeface="Times New Roman" panose="02020603050405020304" pitchFamily="18" charset="0"/>
              </a:rPr>
              <a:t>The projects aspire to create a web application that brings existence to a platform that would facilitate users to purchase or rent exquisite outfits from other users. With Fast Fashion these days, youth tend to buy many clothes and may wear them just for once or twice. All these “Minimal Used Outfits” would just lie in closets or thrown out, even if they were expensive. India Produces 1 million ton of such household textile waste, ending up in landfills. We aim to create a network where someone’s minimal used outfits could become beneficial for users in need, buying them at cheaper price or renting for a few days.  Most of the existing online shopping websites act as intermediator between ‘manufacturers’ and ‘customers’, where as we act as intermediator between clients as such that anyone can sell their outfits and anyone can buy them, benefitting both parties where seller could earn from forsaken clothes and buyer could bypass spending huge amounts for temporarily needed clothes. </a:t>
            </a:r>
            <a:r>
              <a:rPr lang="en-US" sz="1800" dirty="0" err="1">
                <a:solidFill>
                  <a:srgbClr val="000000"/>
                </a:solidFill>
                <a:effectLst/>
                <a:latin typeface="Times New Roman" panose="02020603050405020304" pitchFamily="18" charset="0"/>
                <a:ea typeface="Times New Roman" panose="02020603050405020304" pitchFamily="18" charset="0"/>
              </a:rPr>
              <a:t>Reshop</a:t>
            </a:r>
            <a:r>
              <a:rPr lang="en-US" sz="1800" dirty="0">
                <a:solidFill>
                  <a:srgbClr val="000000"/>
                </a:solidFill>
                <a:effectLst/>
                <a:latin typeface="Times New Roman" panose="02020603050405020304" pitchFamily="18" charset="0"/>
                <a:ea typeface="Times New Roman" panose="02020603050405020304" pitchFamily="18" charset="0"/>
              </a:rPr>
              <a:t> is also a sustainable, environment friendly application addressing societal problems such as fast fashion, landfills etc. </a:t>
            </a:r>
            <a:endParaRPr lang="en-IN" sz="19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6B9ACAF-F56E-4CB4-B8B9-3FCA857480DF}"/>
              </a:ext>
            </a:extLst>
          </p:cNvPr>
          <p:cNvSpPr/>
          <p:nvPr/>
        </p:nvSpPr>
        <p:spPr>
          <a:xfrm flipV="1">
            <a:off x="0" y="-39171"/>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5681709"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Abstract</a:t>
            </a:r>
          </a:p>
        </p:txBody>
      </p:sp>
    </p:spTree>
    <p:extLst>
      <p:ext uri="{BB962C8B-B14F-4D97-AF65-F5344CB8AC3E}">
        <p14:creationId xmlns:p14="http://schemas.microsoft.com/office/powerpoint/2010/main" val="3467848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2981"/>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021319" y="304774"/>
            <a:ext cx="5681709"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Actors</a:t>
            </a:r>
          </a:p>
        </p:txBody>
      </p:sp>
      <p:pic>
        <p:nvPicPr>
          <p:cNvPr id="1028" name="Picture 4" descr="Home Owner Icons - Download Free Vector Icons | Noun Project">
            <a:extLst>
              <a:ext uri="{FF2B5EF4-FFF2-40B4-BE49-F238E27FC236}">
                <a16:creationId xmlns:a16="http://schemas.microsoft.com/office/drawing/2014/main" id="{64FA9F42-ABEC-4AAF-8EF8-5DAB2706DD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4585" y="3380384"/>
            <a:ext cx="868362" cy="8683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 Hla Aung – East Boy Engineering">
            <a:extLst>
              <a:ext uri="{FF2B5EF4-FFF2-40B4-BE49-F238E27FC236}">
                <a16:creationId xmlns:a16="http://schemas.microsoft.com/office/drawing/2014/main" id="{B96245AE-1053-4B43-B2BD-40D024458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6197" y="4544322"/>
            <a:ext cx="1465138" cy="14651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ser Icon Vector Male Person Symbol Profile Circle Avatar Sign Stock Vector  - Illustration of color, admin: 115922533">
            <a:extLst>
              <a:ext uri="{FF2B5EF4-FFF2-40B4-BE49-F238E27FC236}">
                <a16:creationId xmlns:a16="http://schemas.microsoft.com/office/drawing/2014/main" id="{2E0BFCA1-B768-4C12-B6C1-4F746739EA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04924" y="1717951"/>
            <a:ext cx="1207685" cy="120768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316E85C-CAE6-4D2F-94F6-CAAD288D80E7}"/>
              </a:ext>
            </a:extLst>
          </p:cNvPr>
          <p:cNvSpPr txBox="1"/>
          <p:nvPr/>
        </p:nvSpPr>
        <p:spPr>
          <a:xfrm>
            <a:off x="2760954" y="1967850"/>
            <a:ext cx="2654423" cy="707886"/>
          </a:xfrm>
          <a:prstGeom prst="rect">
            <a:avLst/>
          </a:prstGeom>
          <a:noFill/>
        </p:spPr>
        <p:txBody>
          <a:bodyPr wrap="square" rtlCol="0">
            <a:spAutoFit/>
          </a:bodyPr>
          <a:lstStyle/>
          <a:p>
            <a:r>
              <a:rPr lang="en-US" sz="4000" b="1" dirty="0"/>
              <a:t>B</a:t>
            </a:r>
            <a:r>
              <a:rPr lang="en-IN" sz="4000" b="1" dirty="0" err="1"/>
              <a:t>uyer</a:t>
            </a:r>
            <a:endParaRPr lang="en-IN" sz="4000" b="1" dirty="0"/>
          </a:p>
        </p:txBody>
      </p:sp>
      <p:sp>
        <p:nvSpPr>
          <p:cNvPr id="16" name="TextBox 15">
            <a:extLst>
              <a:ext uri="{FF2B5EF4-FFF2-40B4-BE49-F238E27FC236}">
                <a16:creationId xmlns:a16="http://schemas.microsoft.com/office/drawing/2014/main" id="{3DADAEB8-AB90-48F2-BA61-BDF8D2840733}"/>
              </a:ext>
            </a:extLst>
          </p:cNvPr>
          <p:cNvSpPr txBox="1"/>
          <p:nvPr/>
        </p:nvSpPr>
        <p:spPr>
          <a:xfrm>
            <a:off x="2760952" y="3460622"/>
            <a:ext cx="2654423" cy="707886"/>
          </a:xfrm>
          <a:prstGeom prst="rect">
            <a:avLst/>
          </a:prstGeom>
          <a:noFill/>
        </p:spPr>
        <p:txBody>
          <a:bodyPr wrap="square" rtlCol="0">
            <a:spAutoFit/>
          </a:bodyPr>
          <a:lstStyle/>
          <a:p>
            <a:r>
              <a:rPr lang="en-US" sz="4000" b="1" dirty="0"/>
              <a:t>S</a:t>
            </a:r>
            <a:r>
              <a:rPr lang="en-IN" sz="4000" b="1" dirty="0" err="1"/>
              <a:t>eller</a:t>
            </a:r>
            <a:endParaRPr lang="en-IN" sz="4000" b="1" dirty="0"/>
          </a:p>
        </p:txBody>
      </p:sp>
      <p:sp>
        <p:nvSpPr>
          <p:cNvPr id="17" name="TextBox 16">
            <a:extLst>
              <a:ext uri="{FF2B5EF4-FFF2-40B4-BE49-F238E27FC236}">
                <a16:creationId xmlns:a16="http://schemas.microsoft.com/office/drawing/2014/main" id="{AF660752-AED4-4C1C-81AA-A3AF1AF62918}"/>
              </a:ext>
            </a:extLst>
          </p:cNvPr>
          <p:cNvSpPr txBox="1"/>
          <p:nvPr/>
        </p:nvSpPr>
        <p:spPr>
          <a:xfrm>
            <a:off x="2760953" y="4922948"/>
            <a:ext cx="2654423" cy="707886"/>
          </a:xfrm>
          <a:prstGeom prst="rect">
            <a:avLst/>
          </a:prstGeom>
          <a:noFill/>
        </p:spPr>
        <p:txBody>
          <a:bodyPr wrap="square" rtlCol="0">
            <a:spAutoFit/>
          </a:bodyPr>
          <a:lstStyle/>
          <a:p>
            <a:r>
              <a:rPr lang="en-IN" sz="4000" b="1" dirty="0"/>
              <a:t>Admin</a:t>
            </a:r>
          </a:p>
        </p:txBody>
      </p:sp>
    </p:spTree>
    <p:extLst>
      <p:ext uri="{BB962C8B-B14F-4D97-AF65-F5344CB8AC3E}">
        <p14:creationId xmlns:p14="http://schemas.microsoft.com/office/powerpoint/2010/main" val="147851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0"/>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5681709"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Use Cases</a:t>
            </a:r>
          </a:p>
        </p:txBody>
      </p:sp>
      <p:pic>
        <p:nvPicPr>
          <p:cNvPr id="1028" name="Picture 4" descr="Home Owner Icons - Download Free Vector Icons | Noun Project">
            <a:extLst>
              <a:ext uri="{FF2B5EF4-FFF2-40B4-BE49-F238E27FC236}">
                <a16:creationId xmlns:a16="http://schemas.microsoft.com/office/drawing/2014/main" id="{64FA9F42-ABEC-4AAF-8EF8-5DAB2706DD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0689" y="2078949"/>
            <a:ext cx="638127" cy="6381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 Hla Aung – East Boy Engineering">
            <a:extLst>
              <a:ext uri="{FF2B5EF4-FFF2-40B4-BE49-F238E27FC236}">
                <a16:creationId xmlns:a16="http://schemas.microsoft.com/office/drawing/2014/main" id="{B96245AE-1053-4B43-B2BD-40D024458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0695" y="1786790"/>
            <a:ext cx="1275796" cy="127579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ser Icon Vector Male Person Symbol Profile Circle Avatar Sign Stock Vector  - Illustration of color, admin: 115922533">
            <a:extLst>
              <a:ext uri="{FF2B5EF4-FFF2-40B4-BE49-F238E27FC236}">
                <a16:creationId xmlns:a16="http://schemas.microsoft.com/office/drawing/2014/main" id="{2E0BFCA1-B768-4C12-B6C1-4F746739EA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01459" y="1967850"/>
            <a:ext cx="913681" cy="9136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316E85C-CAE6-4D2F-94F6-CAAD288D80E7}"/>
              </a:ext>
            </a:extLst>
          </p:cNvPr>
          <p:cNvSpPr txBox="1"/>
          <p:nvPr/>
        </p:nvSpPr>
        <p:spPr>
          <a:xfrm>
            <a:off x="2293579" y="2132302"/>
            <a:ext cx="1683617" cy="584775"/>
          </a:xfrm>
          <a:prstGeom prst="rect">
            <a:avLst/>
          </a:prstGeom>
          <a:noFill/>
        </p:spPr>
        <p:txBody>
          <a:bodyPr wrap="square" rtlCol="0">
            <a:spAutoFit/>
          </a:bodyPr>
          <a:lstStyle/>
          <a:p>
            <a:r>
              <a:rPr lang="en-US" sz="3200" b="1" dirty="0"/>
              <a:t>B</a:t>
            </a:r>
            <a:r>
              <a:rPr lang="en-IN" sz="3200" b="1" dirty="0" err="1"/>
              <a:t>uyer</a:t>
            </a:r>
            <a:endParaRPr lang="en-IN" sz="3200" b="1" dirty="0"/>
          </a:p>
        </p:txBody>
      </p:sp>
      <p:sp>
        <p:nvSpPr>
          <p:cNvPr id="16" name="TextBox 15">
            <a:extLst>
              <a:ext uri="{FF2B5EF4-FFF2-40B4-BE49-F238E27FC236}">
                <a16:creationId xmlns:a16="http://schemas.microsoft.com/office/drawing/2014/main" id="{3DADAEB8-AB90-48F2-BA61-BDF8D2840733}"/>
              </a:ext>
            </a:extLst>
          </p:cNvPr>
          <p:cNvSpPr txBox="1"/>
          <p:nvPr/>
        </p:nvSpPr>
        <p:spPr>
          <a:xfrm>
            <a:off x="5622254" y="2132301"/>
            <a:ext cx="2654423" cy="584775"/>
          </a:xfrm>
          <a:prstGeom prst="rect">
            <a:avLst/>
          </a:prstGeom>
          <a:noFill/>
        </p:spPr>
        <p:txBody>
          <a:bodyPr wrap="square" rtlCol="0">
            <a:spAutoFit/>
          </a:bodyPr>
          <a:lstStyle/>
          <a:p>
            <a:r>
              <a:rPr lang="en-US" sz="3200" b="1" dirty="0"/>
              <a:t>S</a:t>
            </a:r>
            <a:r>
              <a:rPr lang="en-IN" sz="3200" b="1" dirty="0" err="1"/>
              <a:t>eller</a:t>
            </a:r>
            <a:endParaRPr lang="en-IN" sz="3200" b="1" dirty="0"/>
          </a:p>
        </p:txBody>
      </p:sp>
      <p:sp>
        <p:nvSpPr>
          <p:cNvPr id="17" name="TextBox 16">
            <a:extLst>
              <a:ext uri="{FF2B5EF4-FFF2-40B4-BE49-F238E27FC236}">
                <a16:creationId xmlns:a16="http://schemas.microsoft.com/office/drawing/2014/main" id="{AF660752-AED4-4C1C-81AA-A3AF1AF62918}"/>
              </a:ext>
            </a:extLst>
          </p:cNvPr>
          <p:cNvSpPr txBox="1"/>
          <p:nvPr/>
        </p:nvSpPr>
        <p:spPr>
          <a:xfrm>
            <a:off x="9085708" y="2133961"/>
            <a:ext cx="2654423" cy="584775"/>
          </a:xfrm>
          <a:prstGeom prst="rect">
            <a:avLst/>
          </a:prstGeom>
          <a:noFill/>
        </p:spPr>
        <p:txBody>
          <a:bodyPr wrap="square" rtlCol="0">
            <a:spAutoFit/>
          </a:bodyPr>
          <a:lstStyle/>
          <a:p>
            <a:r>
              <a:rPr lang="en-IN" sz="3200" b="1" dirty="0"/>
              <a:t>Admin</a:t>
            </a:r>
          </a:p>
        </p:txBody>
      </p:sp>
      <p:sp>
        <p:nvSpPr>
          <p:cNvPr id="7" name="TextBox 6">
            <a:extLst>
              <a:ext uri="{FF2B5EF4-FFF2-40B4-BE49-F238E27FC236}">
                <a16:creationId xmlns:a16="http://schemas.microsoft.com/office/drawing/2014/main" id="{B36F2EDA-E2FC-4181-868F-3E788D2E345B}"/>
              </a:ext>
            </a:extLst>
          </p:cNvPr>
          <p:cNvSpPr txBox="1"/>
          <p:nvPr/>
        </p:nvSpPr>
        <p:spPr>
          <a:xfrm>
            <a:off x="1390235" y="3142695"/>
            <a:ext cx="2553932" cy="2585323"/>
          </a:xfrm>
          <a:prstGeom prst="rect">
            <a:avLst/>
          </a:prstGeom>
          <a:noFill/>
        </p:spPr>
        <p:txBody>
          <a:bodyPr wrap="square" rtlCol="0">
            <a:spAutoFit/>
          </a:bodyPr>
          <a:lstStyle/>
          <a:p>
            <a:pPr marL="285750" indent="-285750">
              <a:buFont typeface="Arial" panose="020B0604020202020204" pitchFamily="34" charset="0"/>
              <a:buChar char="•"/>
            </a:pPr>
            <a:r>
              <a:rPr lang="en-IN" dirty="0"/>
              <a:t>Register</a:t>
            </a:r>
          </a:p>
          <a:p>
            <a:pPr marL="285750" indent="-285750">
              <a:buFont typeface="Arial" panose="020B0604020202020204" pitchFamily="34" charset="0"/>
              <a:buChar char="•"/>
            </a:pPr>
            <a:r>
              <a:rPr lang="en-IN" dirty="0"/>
              <a:t>Login</a:t>
            </a:r>
          </a:p>
          <a:p>
            <a:pPr marL="285750" indent="-285750">
              <a:buFont typeface="Arial" panose="020B0604020202020204" pitchFamily="34" charset="0"/>
              <a:buChar char="•"/>
            </a:pPr>
            <a:r>
              <a:rPr lang="en-IN" dirty="0"/>
              <a:t>View Catalogue</a:t>
            </a:r>
          </a:p>
          <a:p>
            <a:pPr marL="285750" indent="-285750">
              <a:buFont typeface="Arial" panose="020B0604020202020204" pitchFamily="34" charset="0"/>
              <a:buChar char="•"/>
            </a:pPr>
            <a:r>
              <a:rPr lang="en-IN" dirty="0"/>
              <a:t>Search for clothes</a:t>
            </a:r>
          </a:p>
          <a:p>
            <a:pPr marL="285750" indent="-285750">
              <a:buFont typeface="Arial" panose="020B0604020202020204" pitchFamily="34" charset="0"/>
              <a:buChar char="•"/>
            </a:pPr>
            <a:r>
              <a:rPr lang="en-IN" dirty="0"/>
              <a:t>Buy Clothes</a:t>
            </a:r>
          </a:p>
          <a:p>
            <a:pPr marL="285750" indent="-285750">
              <a:buFont typeface="Arial" panose="020B0604020202020204" pitchFamily="34" charset="0"/>
              <a:buChar char="•"/>
            </a:pPr>
            <a:r>
              <a:rPr lang="en-IN" dirty="0"/>
              <a:t>Add to Cart</a:t>
            </a:r>
          </a:p>
          <a:p>
            <a:pPr marL="285750" indent="-285750">
              <a:buFont typeface="Arial" panose="020B0604020202020204" pitchFamily="34" charset="0"/>
              <a:buChar char="•"/>
            </a:pPr>
            <a:r>
              <a:rPr lang="en-IN" dirty="0"/>
              <a:t>Profile View</a:t>
            </a:r>
          </a:p>
          <a:p>
            <a:pPr marL="285750" indent="-285750">
              <a:buFont typeface="Arial" panose="020B0604020202020204" pitchFamily="34" charset="0"/>
              <a:buChar char="•"/>
            </a:pPr>
            <a:r>
              <a:rPr lang="en-IN" dirty="0"/>
              <a:t>Transaction</a:t>
            </a:r>
          </a:p>
          <a:p>
            <a:pPr marL="285750" indent="-285750">
              <a:buFont typeface="Arial" panose="020B0604020202020204" pitchFamily="34" charset="0"/>
              <a:buChar char="•"/>
            </a:pPr>
            <a:r>
              <a:rPr lang="en-IN" dirty="0"/>
              <a:t>Write Reviews</a:t>
            </a:r>
          </a:p>
        </p:txBody>
      </p:sp>
      <p:sp>
        <p:nvSpPr>
          <p:cNvPr id="14" name="TextBox 13">
            <a:extLst>
              <a:ext uri="{FF2B5EF4-FFF2-40B4-BE49-F238E27FC236}">
                <a16:creationId xmlns:a16="http://schemas.microsoft.com/office/drawing/2014/main" id="{9D825F5F-8D6F-450A-B5AA-A933D982F25C}"/>
              </a:ext>
            </a:extLst>
          </p:cNvPr>
          <p:cNvSpPr txBox="1"/>
          <p:nvPr/>
        </p:nvSpPr>
        <p:spPr>
          <a:xfrm>
            <a:off x="4886267" y="3142695"/>
            <a:ext cx="2419466" cy="2031325"/>
          </a:xfrm>
          <a:prstGeom prst="rect">
            <a:avLst/>
          </a:prstGeom>
          <a:noFill/>
        </p:spPr>
        <p:txBody>
          <a:bodyPr wrap="square" rtlCol="0">
            <a:spAutoFit/>
          </a:bodyPr>
          <a:lstStyle/>
          <a:p>
            <a:pPr marL="285750" indent="-285750">
              <a:buFont typeface="Arial" panose="020B0604020202020204" pitchFamily="34" charset="0"/>
              <a:buChar char="•"/>
            </a:pPr>
            <a:r>
              <a:rPr lang="en-IN" dirty="0"/>
              <a:t>Register</a:t>
            </a:r>
          </a:p>
          <a:p>
            <a:pPr marL="285750" indent="-285750">
              <a:buFont typeface="Arial" panose="020B0604020202020204" pitchFamily="34" charset="0"/>
              <a:buChar char="•"/>
            </a:pPr>
            <a:r>
              <a:rPr lang="en-IN" dirty="0"/>
              <a:t>Login</a:t>
            </a:r>
          </a:p>
          <a:p>
            <a:pPr marL="285750" indent="-285750">
              <a:buFont typeface="Arial" panose="020B0604020202020204" pitchFamily="34" charset="0"/>
              <a:buChar char="•"/>
            </a:pPr>
            <a:r>
              <a:rPr lang="en-IN" dirty="0"/>
              <a:t>Upload Product</a:t>
            </a:r>
          </a:p>
          <a:p>
            <a:pPr marL="285750" indent="-285750">
              <a:buFont typeface="Arial" panose="020B0604020202020204" pitchFamily="34" charset="0"/>
              <a:buChar char="•"/>
            </a:pPr>
            <a:r>
              <a:rPr lang="en-IN" dirty="0"/>
              <a:t>Upload Product Details</a:t>
            </a:r>
          </a:p>
          <a:p>
            <a:pPr marL="285750" indent="-285750">
              <a:buFont typeface="Arial" panose="020B0604020202020204" pitchFamily="34" charset="0"/>
              <a:buChar char="•"/>
            </a:pPr>
            <a:r>
              <a:rPr lang="en-IN" dirty="0"/>
              <a:t>Buy clothes</a:t>
            </a:r>
          </a:p>
          <a:p>
            <a:pPr marL="285750" indent="-285750">
              <a:buFont typeface="Arial" panose="020B0604020202020204" pitchFamily="34" charset="0"/>
              <a:buChar char="•"/>
            </a:pPr>
            <a:r>
              <a:rPr lang="en-IN" dirty="0"/>
              <a:t>Read Reviews</a:t>
            </a:r>
          </a:p>
        </p:txBody>
      </p:sp>
      <p:sp>
        <p:nvSpPr>
          <p:cNvPr id="15" name="TextBox 14">
            <a:extLst>
              <a:ext uri="{FF2B5EF4-FFF2-40B4-BE49-F238E27FC236}">
                <a16:creationId xmlns:a16="http://schemas.microsoft.com/office/drawing/2014/main" id="{1E4AB395-0FFB-4F00-BB64-38C716AAF179}"/>
              </a:ext>
            </a:extLst>
          </p:cNvPr>
          <p:cNvSpPr txBox="1"/>
          <p:nvPr/>
        </p:nvSpPr>
        <p:spPr>
          <a:xfrm>
            <a:off x="8276677" y="3062586"/>
            <a:ext cx="2293997" cy="1477328"/>
          </a:xfrm>
          <a:prstGeom prst="rect">
            <a:avLst/>
          </a:prstGeom>
          <a:noFill/>
        </p:spPr>
        <p:txBody>
          <a:bodyPr wrap="square" rtlCol="0">
            <a:spAutoFit/>
          </a:bodyPr>
          <a:lstStyle/>
          <a:p>
            <a:pPr marL="285750" indent="-285750">
              <a:buFont typeface="Arial" panose="020B0604020202020204" pitchFamily="34" charset="0"/>
              <a:buChar char="•"/>
            </a:pPr>
            <a:r>
              <a:rPr lang="en-IN" dirty="0"/>
              <a:t>Login</a:t>
            </a:r>
          </a:p>
          <a:p>
            <a:pPr marL="285750" indent="-285750">
              <a:buFont typeface="Arial" panose="020B0604020202020204" pitchFamily="34" charset="0"/>
              <a:buChar char="•"/>
            </a:pPr>
            <a:r>
              <a:rPr lang="en-IN" dirty="0"/>
              <a:t>Add/Edit/Delete User details</a:t>
            </a:r>
          </a:p>
          <a:p>
            <a:pPr marL="285750" indent="-285750">
              <a:buFont typeface="Arial" panose="020B0604020202020204" pitchFamily="34" charset="0"/>
              <a:buChar char="•"/>
            </a:pPr>
            <a:r>
              <a:rPr lang="en-IN" dirty="0"/>
              <a:t>Add/Edit/Delete Product details</a:t>
            </a:r>
          </a:p>
        </p:txBody>
      </p:sp>
    </p:spTree>
    <p:extLst>
      <p:ext uri="{BB962C8B-B14F-4D97-AF65-F5344CB8AC3E}">
        <p14:creationId xmlns:p14="http://schemas.microsoft.com/office/powerpoint/2010/main" val="2736088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5681709"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Tech Stack</a:t>
            </a:r>
          </a:p>
        </p:txBody>
      </p:sp>
      <p:sp>
        <p:nvSpPr>
          <p:cNvPr id="3" name="TextBox 2">
            <a:extLst>
              <a:ext uri="{FF2B5EF4-FFF2-40B4-BE49-F238E27FC236}">
                <a16:creationId xmlns:a16="http://schemas.microsoft.com/office/drawing/2014/main" id="{B57E954C-DBA4-4BB6-98F0-BB5EA2278121}"/>
              </a:ext>
            </a:extLst>
          </p:cNvPr>
          <p:cNvSpPr txBox="1"/>
          <p:nvPr/>
        </p:nvSpPr>
        <p:spPr>
          <a:xfrm>
            <a:off x="878887" y="1997009"/>
            <a:ext cx="2503503" cy="461665"/>
          </a:xfrm>
          <a:prstGeom prst="rect">
            <a:avLst/>
          </a:prstGeom>
          <a:noFill/>
        </p:spPr>
        <p:txBody>
          <a:bodyPr wrap="square" rtlCol="0">
            <a:spAutoFit/>
          </a:bodyPr>
          <a:lstStyle/>
          <a:p>
            <a:r>
              <a:rPr lang="en-IN" sz="2400" b="1" dirty="0"/>
              <a:t>Frontend :</a:t>
            </a:r>
          </a:p>
        </p:txBody>
      </p:sp>
      <p:sp>
        <p:nvSpPr>
          <p:cNvPr id="6" name="TextBox 5">
            <a:extLst>
              <a:ext uri="{FF2B5EF4-FFF2-40B4-BE49-F238E27FC236}">
                <a16:creationId xmlns:a16="http://schemas.microsoft.com/office/drawing/2014/main" id="{78214E4D-D3FA-4220-A491-65C38DEBBECE}"/>
              </a:ext>
            </a:extLst>
          </p:cNvPr>
          <p:cNvSpPr txBox="1"/>
          <p:nvPr/>
        </p:nvSpPr>
        <p:spPr>
          <a:xfrm>
            <a:off x="1310983" y="2462624"/>
            <a:ext cx="2071408" cy="1077218"/>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PHP</a:t>
            </a:r>
          </a:p>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CSS</a:t>
            </a:r>
          </a:p>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Bootstrap</a:t>
            </a:r>
          </a:p>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JavaScript</a:t>
            </a:r>
          </a:p>
        </p:txBody>
      </p:sp>
      <p:sp>
        <p:nvSpPr>
          <p:cNvPr id="18" name="TextBox 17">
            <a:extLst>
              <a:ext uri="{FF2B5EF4-FFF2-40B4-BE49-F238E27FC236}">
                <a16:creationId xmlns:a16="http://schemas.microsoft.com/office/drawing/2014/main" id="{9DDE72B1-A226-488A-98A8-1A975C85D4B7}"/>
              </a:ext>
            </a:extLst>
          </p:cNvPr>
          <p:cNvSpPr txBox="1"/>
          <p:nvPr/>
        </p:nvSpPr>
        <p:spPr>
          <a:xfrm>
            <a:off x="878888" y="3676834"/>
            <a:ext cx="2503503" cy="461665"/>
          </a:xfrm>
          <a:prstGeom prst="rect">
            <a:avLst/>
          </a:prstGeom>
          <a:noFill/>
        </p:spPr>
        <p:txBody>
          <a:bodyPr wrap="square" rtlCol="0">
            <a:spAutoFit/>
          </a:bodyPr>
          <a:lstStyle/>
          <a:p>
            <a:r>
              <a:rPr lang="en-IN" sz="2400" b="1" dirty="0"/>
              <a:t>Backend :</a:t>
            </a:r>
          </a:p>
        </p:txBody>
      </p:sp>
      <p:sp>
        <p:nvSpPr>
          <p:cNvPr id="20" name="TextBox 19">
            <a:extLst>
              <a:ext uri="{FF2B5EF4-FFF2-40B4-BE49-F238E27FC236}">
                <a16:creationId xmlns:a16="http://schemas.microsoft.com/office/drawing/2014/main" id="{BBCBF3FF-0457-485F-A2DB-E10ACFA8F7C4}"/>
              </a:ext>
            </a:extLst>
          </p:cNvPr>
          <p:cNvSpPr txBox="1"/>
          <p:nvPr/>
        </p:nvSpPr>
        <p:spPr>
          <a:xfrm>
            <a:off x="1310983" y="4174906"/>
            <a:ext cx="2071408"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a:t>
            </a:r>
            <a:r>
              <a:rPr lang="en-IN" sz="1600" dirty="0" err="1">
                <a:latin typeface="Arial" panose="020B0604020202020204" pitchFamily="34" charset="0"/>
                <a:cs typeface="Arial" panose="020B0604020202020204" pitchFamily="34" charset="0"/>
              </a:rPr>
              <a:t>ySql</a:t>
            </a:r>
            <a:endParaRPr lang="en-IN" sz="16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6E00ED1A-434F-4768-8A1D-488BA465F63F}"/>
              </a:ext>
            </a:extLst>
          </p:cNvPr>
          <p:cNvSpPr txBox="1"/>
          <p:nvPr/>
        </p:nvSpPr>
        <p:spPr>
          <a:xfrm>
            <a:off x="878889" y="4793059"/>
            <a:ext cx="2951239" cy="830997"/>
          </a:xfrm>
          <a:prstGeom prst="rect">
            <a:avLst/>
          </a:prstGeom>
          <a:noFill/>
        </p:spPr>
        <p:txBody>
          <a:bodyPr wrap="square" rtlCol="0">
            <a:spAutoFit/>
          </a:bodyPr>
          <a:lstStyle/>
          <a:p>
            <a:r>
              <a:rPr lang="en-IN" sz="2400" b="1" dirty="0"/>
              <a:t>Package :</a:t>
            </a:r>
          </a:p>
          <a:p>
            <a:endParaRPr lang="en-IN" sz="2400" b="1" dirty="0"/>
          </a:p>
        </p:txBody>
      </p:sp>
      <p:sp>
        <p:nvSpPr>
          <p:cNvPr id="22" name="TextBox 21">
            <a:extLst>
              <a:ext uri="{FF2B5EF4-FFF2-40B4-BE49-F238E27FC236}">
                <a16:creationId xmlns:a16="http://schemas.microsoft.com/office/drawing/2014/main" id="{1A1F463A-ED5C-4660-8D42-4C7652DD0AFA}"/>
              </a:ext>
            </a:extLst>
          </p:cNvPr>
          <p:cNvSpPr txBox="1"/>
          <p:nvPr/>
        </p:nvSpPr>
        <p:spPr>
          <a:xfrm>
            <a:off x="1310983" y="5331668"/>
            <a:ext cx="2071408"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X</a:t>
            </a:r>
            <a:r>
              <a:rPr lang="en-IN" sz="1600" dirty="0">
                <a:latin typeface="Arial" panose="020B0604020202020204" pitchFamily="34" charset="0"/>
                <a:cs typeface="Arial" panose="020B0604020202020204" pitchFamily="34" charset="0"/>
              </a:rPr>
              <a:t>AMPP</a:t>
            </a:r>
          </a:p>
        </p:txBody>
      </p:sp>
    </p:spTree>
    <p:extLst>
      <p:ext uri="{BB962C8B-B14F-4D97-AF65-F5344CB8AC3E}">
        <p14:creationId xmlns:p14="http://schemas.microsoft.com/office/powerpoint/2010/main" val="20284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6772835"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USE CASE DIAGRAM</a:t>
            </a:r>
          </a:p>
        </p:txBody>
      </p:sp>
      <p:pic>
        <p:nvPicPr>
          <p:cNvPr id="6" name="Picture 5" descr="Diagram&#10;&#10;Description automatically generated">
            <a:extLst>
              <a:ext uri="{FF2B5EF4-FFF2-40B4-BE49-F238E27FC236}">
                <a16:creationId xmlns:a16="http://schemas.microsoft.com/office/drawing/2014/main" id="{C4864408-EF2D-41CB-9A39-F641C2CD07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9405" y="1952625"/>
            <a:ext cx="10556538" cy="4621719"/>
          </a:xfrm>
          <a:prstGeom prst="rect">
            <a:avLst/>
          </a:prstGeom>
          <a:noFill/>
          <a:ln>
            <a:noFill/>
          </a:ln>
        </p:spPr>
      </p:pic>
    </p:spTree>
    <p:extLst>
      <p:ext uri="{BB962C8B-B14F-4D97-AF65-F5344CB8AC3E}">
        <p14:creationId xmlns:p14="http://schemas.microsoft.com/office/powerpoint/2010/main" val="4222681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7075354"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SEQUENCE DIAGRAM</a:t>
            </a:r>
          </a:p>
        </p:txBody>
      </p:sp>
      <p:pic>
        <p:nvPicPr>
          <p:cNvPr id="7" name="Picture 6" descr="A screenshot of a computer&#10;&#10;Description automatically generated with medium confidence">
            <a:extLst>
              <a:ext uri="{FF2B5EF4-FFF2-40B4-BE49-F238E27FC236}">
                <a16:creationId xmlns:a16="http://schemas.microsoft.com/office/drawing/2014/main" id="{9343B6FF-6B45-4893-93AE-57ACAEB41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936" y="1555114"/>
            <a:ext cx="11635272" cy="5218909"/>
          </a:xfrm>
          <a:prstGeom prst="rect">
            <a:avLst/>
          </a:prstGeom>
        </p:spPr>
      </p:pic>
    </p:spTree>
    <p:extLst>
      <p:ext uri="{BB962C8B-B14F-4D97-AF65-F5344CB8AC3E}">
        <p14:creationId xmlns:p14="http://schemas.microsoft.com/office/powerpoint/2010/main" val="4265119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3145606" y="334592"/>
            <a:ext cx="7075354"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DIRECTORY STRUCTURE</a:t>
            </a:r>
          </a:p>
        </p:txBody>
      </p:sp>
      <p:pic>
        <p:nvPicPr>
          <p:cNvPr id="8" name="Picture 7" descr="Graphical user interface, application, Word&#10;&#10;Description automatically generated">
            <a:extLst>
              <a:ext uri="{FF2B5EF4-FFF2-40B4-BE49-F238E27FC236}">
                <a16:creationId xmlns:a16="http://schemas.microsoft.com/office/drawing/2014/main" id="{4C1547CF-AF92-4A39-A152-F153B518E5AC}"/>
              </a:ext>
            </a:extLst>
          </p:cNvPr>
          <p:cNvPicPr>
            <a:picLocks noChangeAspect="1"/>
          </p:cNvPicPr>
          <p:nvPr/>
        </p:nvPicPr>
        <p:blipFill>
          <a:blip r:embed="rId2"/>
          <a:stretch>
            <a:fillRect/>
          </a:stretch>
        </p:blipFill>
        <p:spPr>
          <a:xfrm>
            <a:off x="3069771" y="1419871"/>
            <a:ext cx="5906278" cy="5326161"/>
          </a:xfrm>
          <a:prstGeom prst="rect">
            <a:avLst/>
          </a:prstGeom>
        </p:spPr>
      </p:pic>
    </p:spTree>
    <p:extLst>
      <p:ext uri="{BB962C8B-B14F-4D97-AF65-F5344CB8AC3E}">
        <p14:creationId xmlns:p14="http://schemas.microsoft.com/office/powerpoint/2010/main" val="247876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B9ACAF-F56E-4CB4-B8B9-3FCA857480DF}"/>
              </a:ext>
            </a:extLst>
          </p:cNvPr>
          <p:cNvSpPr/>
          <p:nvPr/>
        </p:nvSpPr>
        <p:spPr>
          <a:xfrm flipV="1">
            <a:off x="0" y="2728442"/>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2558323" y="3044278"/>
            <a:ext cx="7075354"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IMPLEMENTATION</a:t>
            </a:r>
          </a:p>
        </p:txBody>
      </p:sp>
    </p:spTree>
    <p:extLst>
      <p:ext uri="{BB962C8B-B14F-4D97-AF65-F5344CB8AC3E}">
        <p14:creationId xmlns:p14="http://schemas.microsoft.com/office/powerpoint/2010/main" val="276558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5260258" y="422787"/>
            <a:ext cx="1848464" cy="400110"/>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HOME PAGE</a:t>
            </a:r>
          </a:p>
        </p:txBody>
      </p:sp>
      <p:pic>
        <p:nvPicPr>
          <p:cNvPr id="4" name="Picture 3" descr="Qr code&#10;&#10;Description automatically generated">
            <a:extLst>
              <a:ext uri="{FF2B5EF4-FFF2-40B4-BE49-F238E27FC236}">
                <a16:creationId xmlns:a16="http://schemas.microsoft.com/office/drawing/2014/main" id="{86E5545D-ADF8-4E89-9F7A-7A8361869C4F}"/>
              </a:ext>
            </a:extLst>
          </p:cNvPr>
          <p:cNvPicPr>
            <a:picLocks noChangeAspect="1"/>
          </p:cNvPicPr>
          <p:nvPr/>
        </p:nvPicPr>
        <p:blipFill>
          <a:blip r:embed="rId2"/>
          <a:stretch>
            <a:fillRect/>
          </a:stretch>
        </p:blipFill>
        <p:spPr>
          <a:xfrm>
            <a:off x="1328057" y="962856"/>
            <a:ext cx="9535885" cy="5717863"/>
          </a:xfrm>
          <a:prstGeom prst="rect">
            <a:avLst/>
          </a:prstGeom>
        </p:spPr>
      </p:pic>
    </p:spTree>
    <p:extLst>
      <p:ext uri="{BB962C8B-B14F-4D97-AF65-F5344CB8AC3E}">
        <p14:creationId xmlns:p14="http://schemas.microsoft.com/office/powerpoint/2010/main" val="3581613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5279922" y="385465"/>
            <a:ext cx="1848464" cy="400110"/>
          </a:xfrm>
          <a:prstGeom prst="rect">
            <a:avLst/>
          </a:prstGeom>
          <a:noFill/>
        </p:spPr>
        <p:txBody>
          <a:bodyPr wrap="square" rtlCol="0">
            <a:spAutoFit/>
          </a:bodyPr>
          <a:lstStyle/>
          <a:p>
            <a:pPr algn="ctr"/>
            <a:r>
              <a:rPr lang="en-IN" sz="2000" b="1" dirty="0">
                <a:latin typeface="Arial" panose="020B0604020202020204" pitchFamily="34" charset="0"/>
                <a:cs typeface="Arial" panose="020B0604020202020204" pitchFamily="34" charset="0"/>
              </a:rPr>
              <a:t>SIGN UP</a:t>
            </a:r>
          </a:p>
        </p:txBody>
      </p:sp>
      <p:pic>
        <p:nvPicPr>
          <p:cNvPr id="4" name="Picture 3" descr="Graphical user interface&#10;&#10;Description automatically generated">
            <a:extLst>
              <a:ext uri="{FF2B5EF4-FFF2-40B4-BE49-F238E27FC236}">
                <a16:creationId xmlns:a16="http://schemas.microsoft.com/office/drawing/2014/main" id="{A312C785-8F5B-4486-87F6-777F827529AC}"/>
              </a:ext>
            </a:extLst>
          </p:cNvPr>
          <p:cNvPicPr>
            <a:picLocks noChangeAspect="1"/>
          </p:cNvPicPr>
          <p:nvPr/>
        </p:nvPicPr>
        <p:blipFill>
          <a:blip r:embed="rId2"/>
          <a:stretch>
            <a:fillRect/>
          </a:stretch>
        </p:blipFill>
        <p:spPr>
          <a:xfrm>
            <a:off x="561689" y="1055278"/>
            <a:ext cx="11260197" cy="5165330"/>
          </a:xfrm>
          <a:prstGeom prst="rect">
            <a:avLst/>
          </a:prstGeom>
        </p:spPr>
      </p:pic>
    </p:spTree>
    <p:extLst>
      <p:ext uri="{BB962C8B-B14F-4D97-AF65-F5344CB8AC3E}">
        <p14:creationId xmlns:p14="http://schemas.microsoft.com/office/powerpoint/2010/main" val="524994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5279922" y="422787"/>
            <a:ext cx="1848464" cy="400110"/>
          </a:xfrm>
          <a:prstGeom prst="rect">
            <a:avLst/>
          </a:prstGeom>
          <a:noFill/>
        </p:spPr>
        <p:txBody>
          <a:bodyPr wrap="square" rtlCol="0">
            <a:spAutoFit/>
          </a:bodyPr>
          <a:lstStyle/>
          <a:p>
            <a:pPr algn="ctr"/>
            <a:r>
              <a:rPr lang="en-IN" sz="2000" b="1" dirty="0">
                <a:latin typeface="Arial" panose="020B0604020202020204" pitchFamily="34" charset="0"/>
                <a:cs typeface="Arial" panose="020B0604020202020204" pitchFamily="34" charset="0"/>
              </a:rPr>
              <a:t>LOGIN</a:t>
            </a:r>
          </a:p>
        </p:txBody>
      </p:sp>
      <p:pic>
        <p:nvPicPr>
          <p:cNvPr id="6" name="Picture 5" descr="Graphical user interface, application&#10;&#10;Description automatically generated">
            <a:extLst>
              <a:ext uri="{FF2B5EF4-FFF2-40B4-BE49-F238E27FC236}">
                <a16:creationId xmlns:a16="http://schemas.microsoft.com/office/drawing/2014/main" id="{04D094F5-A9C0-412A-A58F-7C314056995D}"/>
              </a:ext>
            </a:extLst>
          </p:cNvPr>
          <p:cNvPicPr>
            <a:picLocks noChangeAspect="1"/>
          </p:cNvPicPr>
          <p:nvPr/>
        </p:nvPicPr>
        <p:blipFill>
          <a:blip r:embed="rId2"/>
          <a:stretch>
            <a:fillRect/>
          </a:stretch>
        </p:blipFill>
        <p:spPr>
          <a:xfrm>
            <a:off x="1231642" y="834821"/>
            <a:ext cx="10067730" cy="5883220"/>
          </a:xfrm>
          <a:prstGeom prst="rect">
            <a:avLst/>
          </a:prstGeom>
        </p:spPr>
      </p:pic>
    </p:spTree>
    <p:extLst>
      <p:ext uri="{BB962C8B-B14F-4D97-AF65-F5344CB8AC3E}">
        <p14:creationId xmlns:p14="http://schemas.microsoft.com/office/powerpoint/2010/main" val="1582992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4886631" y="142170"/>
            <a:ext cx="2418736"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CATALOGUE</a:t>
            </a:r>
            <a:endParaRPr lang="en-IN" sz="2000" b="1" dirty="0">
              <a:latin typeface="Arial" panose="020B0604020202020204" pitchFamily="34" charset="0"/>
              <a:cs typeface="Arial" panose="020B0604020202020204" pitchFamily="34" charset="0"/>
            </a:endParaRPr>
          </a:p>
        </p:txBody>
      </p:sp>
      <p:pic>
        <p:nvPicPr>
          <p:cNvPr id="4" name="Picture 3" descr="Graphical user interface, application, website&#10;&#10;Description automatically generated">
            <a:extLst>
              <a:ext uri="{FF2B5EF4-FFF2-40B4-BE49-F238E27FC236}">
                <a16:creationId xmlns:a16="http://schemas.microsoft.com/office/drawing/2014/main" id="{1257CB78-410C-4606-8FD6-A7867AA1B2BE}"/>
              </a:ext>
            </a:extLst>
          </p:cNvPr>
          <p:cNvPicPr>
            <a:picLocks noChangeAspect="1"/>
          </p:cNvPicPr>
          <p:nvPr/>
        </p:nvPicPr>
        <p:blipFill>
          <a:blip r:embed="rId2"/>
          <a:stretch>
            <a:fillRect/>
          </a:stretch>
        </p:blipFill>
        <p:spPr>
          <a:xfrm>
            <a:off x="830171" y="896696"/>
            <a:ext cx="10851756" cy="5419867"/>
          </a:xfrm>
          <a:prstGeom prst="rect">
            <a:avLst/>
          </a:prstGeom>
        </p:spPr>
      </p:pic>
    </p:spTree>
    <p:extLst>
      <p:ext uri="{BB962C8B-B14F-4D97-AF65-F5344CB8AC3E}">
        <p14:creationId xmlns:p14="http://schemas.microsoft.com/office/powerpoint/2010/main" val="1276325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4886631" y="164343"/>
            <a:ext cx="2418736" cy="400110"/>
          </a:xfrm>
          <a:prstGeom prst="rect">
            <a:avLst/>
          </a:prstGeom>
          <a:noFill/>
        </p:spPr>
        <p:txBody>
          <a:bodyPr wrap="square" rtlCol="0">
            <a:spAutoFit/>
          </a:bodyPr>
          <a:lstStyle/>
          <a:p>
            <a:pPr algn="ctr"/>
            <a:r>
              <a:rPr lang="en-IN" sz="2000" b="1" dirty="0">
                <a:latin typeface="Arial" panose="020B0604020202020204" pitchFamily="34" charset="0"/>
                <a:cs typeface="Arial" panose="020B0604020202020204" pitchFamily="34" charset="0"/>
              </a:rPr>
              <a:t>PROFILE</a:t>
            </a:r>
          </a:p>
        </p:txBody>
      </p:sp>
      <p:pic>
        <p:nvPicPr>
          <p:cNvPr id="4" name="Picture 3" descr="Graphical user interface, website&#10;&#10;Description automatically generated">
            <a:extLst>
              <a:ext uri="{FF2B5EF4-FFF2-40B4-BE49-F238E27FC236}">
                <a16:creationId xmlns:a16="http://schemas.microsoft.com/office/drawing/2014/main" id="{3A12EC8C-1087-4347-A464-E738D58C7F5C}"/>
              </a:ext>
            </a:extLst>
          </p:cNvPr>
          <p:cNvPicPr>
            <a:picLocks noChangeAspect="1"/>
          </p:cNvPicPr>
          <p:nvPr/>
        </p:nvPicPr>
        <p:blipFill>
          <a:blip r:embed="rId2"/>
          <a:stretch>
            <a:fillRect/>
          </a:stretch>
        </p:blipFill>
        <p:spPr>
          <a:xfrm>
            <a:off x="515619" y="744220"/>
            <a:ext cx="11276331" cy="6029202"/>
          </a:xfrm>
          <a:prstGeom prst="rect">
            <a:avLst/>
          </a:prstGeom>
        </p:spPr>
      </p:pic>
    </p:spTree>
    <p:extLst>
      <p:ext uri="{BB962C8B-B14F-4D97-AF65-F5344CB8AC3E}">
        <p14:creationId xmlns:p14="http://schemas.microsoft.com/office/powerpoint/2010/main" val="3528849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4458928" y="121000"/>
            <a:ext cx="3274143"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U</a:t>
            </a:r>
            <a:r>
              <a:rPr lang="en-IN" sz="2000" b="1" dirty="0">
                <a:latin typeface="Arial" panose="020B0604020202020204" pitchFamily="34" charset="0"/>
                <a:cs typeface="Arial" panose="020B0604020202020204" pitchFamily="34" charset="0"/>
              </a:rPr>
              <a:t>PLOAD NEW PRODUCT</a:t>
            </a:r>
          </a:p>
        </p:txBody>
      </p:sp>
      <p:pic>
        <p:nvPicPr>
          <p:cNvPr id="6" name="Picture 5" descr="Graphical user interface, application&#10;&#10;Description automatically generated">
            <a:extLst>
              <a:ext uri="{FF2B5EF4-FFF2-40B4-BE49-F238E27FC236}">
                <a16:creationId xmlns:a16="http://schemas.microsoft.com/office/drawing/2014/main" id="{99A1EE5F-D68F-4FBD-B534-1077F1178EFE}"/>
              </a:ext>
            </a:extLst>
          </p:cNvPr>
          <p:cNvPicPr>
            <a:picLocks noChangeAspect="1"/>
          </p:cNvPicPr>
          <p:nvPr/>
        </p:nvPicPr>
        <p:blipFill>
          <a:blip r:embed="rId2"/>
          <a:stretch>
            <a:fillRect/>
          </a:stretch>
        </p:blipFill>
        <p:spPr>
          <a:xfrm>
            <a:off x="1056212" y="735479"/>
            <a:ext cx="10364458" cy="5692069"/>
          </a:xfrm>
          <a:prstGeom prst="rect">
            <a:avLst/>
          </a:prstGeom>
        </p:spPr>
      </p:pic>
    </p:spTree>
    <p:extLst>
      <p:ext uri="{BB962C8B-B14F-4D97-AF65-F5344CB8AC3E}">
        <p14:creationId xmlns:p14="http://schemas.microsoft.com/office/powerpoint/2010/main" val="364646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4458928" y="121000"/>
            <a:ext cx="3274143"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TRASACTION DETAILS</a:t>
            </a:r>
            <a:endParaRPr lang="en-IN" sz="2000" b="1" dirty="0">
              <a:latin typeface="Arial" panose="020B0604020202020204" pitchFamily="34" charset="0"/>
              <a:cs typeface="Arial" panose="020B0604020202020204" pitchFamily="34" charset="0"/>
            </a:endParaRPr>
          </a:p>
        </p:txBody>
      </p:sp>
      <p:pic>
        <p:nvPicPr>
          <p:cNvPr id="4" name="Picture 3" descr="Graphical user interface, application, website&#10;&#10;Description automatically generated">
            <a:extLst>
              <a:ext uri="{FF2B5EF4-FFF2-40B4-BE49-F238E27FC236}">
                <a16:creationId xmlns:a16="http://schemas.microsoft.com/office/drawing/2014/main" id="{D6FA80F4-1CF8-42C0-B55A-AC757BFD2C3C}"/>
              </a:ext>
            </a:extLst>
          </p:cNvPr>
          <p:cNvPicPr>
            <a:picLocks noChangeAspect="1"/>
          </p:cNvPicPr>
          <p:nvPr/>
        </p:nvPicPr>
        <p:blipFill>
          <a:blip r:embed="rId2"/>
          <a:stretch>
            <a:fillRect/>
          </a:stretch>
        </p:blipFill>
        <p:spPr>
          <a:xfrm>
            <a:off x="1149518" y="1159276"/>
            <a:ext cx="9785960" cy="4978631"/>
          </a:xfrm>
          <a:prstGeom prst="rect">
            <a:avLst/>
          </a:prstGeom>
        </p:spPr>
      </p:pic>
    </p:spTree>
    <p:extLst>
      <p:ext uri="{BB962C8B-B14F-4D97-AF65-F5344CB8AC3E}">
        <p14:creationId xmlns:p14="http://schemas.microsoft.com/office/powerpoint/2010/main" val="272935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9A379A-C524-4185-9ED4-7C28A0345590}"/>
              </a:ext>
            </a:extLst>
          </p:cNvPr>
          <p:cNvSpPr txBox="1"/>
          <p:nvPr/>
        </p:nvSpPr>
        <p:spPr>
          <a:xfrm>
            <a:off x="4458928" y="121000"/>
            <a:ext cx="3274143"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R</a:t>
            </a:r>
            <a:r>
              <a:rPr lang="en-IN" sz="2000" b="1" dirty="0">
                <a:latin typeface="Arial" panose="020B0604020202020204" pitchFamily="34" charset="0"/>
                <a:cs typeface="Arial" panose="020B0604020202020204" pitchFamily="34" charset="0"/>
              </a:rPr>
              <a:t>EVIEW</a:t>
            </a:r>
          </a:p>
        </p:txBody>
      </p:sp>
      <p:pic>
        <p:nvPicPr>
          <p:cNvPr id="4" name="Picture 3" descr="Graphical user interface, text, application&#10;&#10;Description automatically generated">
            <a:extLst>
              <a:ext uri="{FF2B5EF4-FFF2-40B4-BE49-F238E27FC236}">
                <a16:creationId xmlns:a16="http://schemas.microsoft.com/office/drawing/2014/main" id="{ECBA2D6C-15C6-42A9-8038-C3A7E209D65E}"/>
              </a:ext>
            </a:extLst>
          </p:cNvPr>
          <p:cNvPicPr>
            <a:picLocks noChangeAspect="1"/>
          </p:cNvPicPr>
          <p:nvPr/>
        </p:nvPicPr>
        <p:blipFill>
          <a:blip r:embed="rId2"/>
          <a:stretch>
            <a:fillRect/>
          </a:stretch>
        </p:blipFill>
        <p:spPr>
          <a:xfrm>
            <a:off x="2001560" y="898595"/>
            <a:ext cx="9218889" cy="5138514"/>
          </a:xfrm>
          <a:prstGeom prst="rect">
            <a:avLst/>
          </a:prstGeom>
        </p:spPr>
      </p:pic>
    </p:spTree>
    <p:extLst>
      <p:ext uri="{BB962C8B-B14F-4D97-AF65-F5344CB8AC3E}">
        <p14:creationId xmlns:p14="http://schemas.microsoft.com/office/powerpoint/2010/main" val="3997806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2558323" y="166789"/>
            <a:ext cx="7075354"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CONCLUSION</a:t>
            </a:r>
          </a:p>
        </p:txBody>
      </p:sp>
      <p:sp>
        <p:nvSpPr>
          <p:cNvPr id="6" name="TextBox 5">
            <a:extLst>
              <a:ext uri="{FF2B5EF4-FFF2-40B4-BE49-F238E27FC236}">
                <a16:creationId xmlns:a16="http://schemas.microsoft.com/office/drawing/2014/main" id="{72770709-C1A8-4A31-86FE-F889BDBCE5D2}"/>
              </a:ext>
            </a:extLst>
          </p:cNvPr>
          <p:cNvSpPr txBox="1"/>
          <p:nvPr/>
        </p:nvSpPr>
        <p:spPr>
          <a:xfrm>
            <a:off x="983225" y="1804594"/>
            <a:ext cx="10776155" cy="2790508"/>
          </a:xfrm>
          <a:prstGeom prst="rect">
            <a:avLst/>
          </a:prstGeom>
          <a:noFill/>
        </p:spPr>
        <p:txBody>
          <a:bodyPr wrap="square" rtlCol="0">
            <a:spAutoFit/>
          </a:bodyPr>
          <a:lstStyle/>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We have successfully developed a secure, user-friendly web application. This system is</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capable of letting users be sellers and buyers of their own.</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It uses a client/server architecture based on the HTTP protocol. It is developed in Microsoft’s Visual Studio. The buyer performs a search for clothes either on search bar or from catalogue. The business logic tier communicates with the database tier</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requesting the results of the query sent by it. The results obtained by the database are</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displayed on the data grid, by refreshing the grid rather than refreshing the entire web page.</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The Seller performs upload a product and database updates according to it.</a:t>
            </a: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1813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DD5E-34C6-4616-8F1D-EFBB2CE1428A}"/>
              </a:ext>
            </a:extLst>
          </p:cNvPr>
          <p:cNvSpPr>
            <a:spLocks noGrp="1"/>
          </p:cNvSpPr>
          <p:nvPr>
            <p:ph type="ctrTitle"/>
          </p:nvPr>
        </p:nvSpPr>
        <p:spPr>
          <a:xfrm>
            <a:off x="1304924" y="551510"/>
            <a:ext cx="9363075" cy="868362"/>
          </a:xfrm>
        </p:spPr>
        <p:txBody>
          <a:bodyPr>
            <a:normAutofit fontScale="90000"/>
          </a:bodyPr>
          <a:lstStyle/>
          <a:p>
            <a:r>
              <a:rPr lang="en-IN" dirty="0">
                <a:latin typeface="Arial" panose="020B0604020202020204" pitchFamily="34" charset="0"/>
                <a:cs typeface="Arial" panose="020B0604020202020204" pitchFamily="34" charset="0"/>
              </a:rPr>
              <a:t>Problem Statement</a:t>
            </a:r>
          </a:p>
        </p:txBody>
      </p:sp>
      <p:sp>
        <p:nvSpPr>
          <p:cNvPr id="4" name="Rectangle 3">
            <a:extLst>
              <a:ext uri="{FF2B5EF4-FFF2-40B4-BE49-F238E27FC236}">
                <a16:creationId xmlns:a16="http://schemas.microsoft.com/office/drawing/2014/main" id="{26B9ACAF-F56E-4CB4-B8B9-3FCA857480DF}"/>
              </a:ext>
            </a:extLst>
          </p:cNvPr>
          <p:cNvSpPr/>
          <p:nvPr/>
        </p:nvSpPr>
        <p:spPr>
          <a:xfrm flipV="1">
            <a:off x="0" y="-58666"/>
            <a:ext cx="12192000" cy="1401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DEA868A-9230-45C5-BF9B-623A86B25AAA}"/>
              </a:ext>
            </a:extLst>
          </p:cNvPr>
          <p:cNvSpPr txBox="1"/>
          <p:nvPr/>
        </p:nvSpPr>
        <p:spPr>
          <a:xfrm>
            <a:off x="2558323" y="166789"/>
            <a:ext cx="7075354" cy="769441"/>
          </a:xfrm>
          <a:prstGeom prst="rect">
            <a:avLst/>
          </a:prstGeom>
          <a:noFill/>
        </p:spPr>
        <p:txBody>
          <a:bodyPr wrap="square" rtlCol="0">
            <a:spAutoFit/>
          </a:bodyPr>
          <a:lstStyle/>
          <a:p>
            <a:pPr algn="ctr"/>
            <a:r>
              <a:rPr lang="en-IN" sz="4400" b="1" dirty="0">
                <a:solidFill>
                  <a:schemeClr val="bg1"/>
                </a:solidFill>
                <a:latin typeface="Arial" panose="020B0604020202020204" pitchFamily="34" charset="0"/>
                <a:cs typeface="Arial" panose="020B0604020202020204" pitchFamily="34" charset="0"/>
              </a:rPr>
              <a:t>REFERENCES</a:t>
            </a:r>
          </a:p>
        </p:txBody>
      </p:sp>
      <p:sp>
        <p:nvSpPr>
          <p:cNvPr id="6" name="TextBox 5">
            <a:extLst>
              <a:ext uri="{FF2B5EF4-FFF2-40B4-BE49-F238E27FC236}">
                <a16:creationId xmlns:a16="http://schemas.microsoft.com/office/drawing/2014/main" id="{72770709-C1A8-4A31-86FE-F889BDBCE5D2}"/>
              </a:ext>
            </a:extLst>
          </p:cNvPr>
          <p:cNvSpPr txBox="1"/>
          <p:nvPr/>
        </p:nvSpPr>
        <p:spPr>
          <a:xfrm>
            <a:off x="983225" y="1804594"/>
            <a:ext cx="10776155" cy="4579459"/>
          </a:xfrm>
          <a:prstGeom prst="rect">
            <a:avLst/>
          </a:prstGeom>
          <a:noFill/>
        </p:spPr>
        <p:txBody>
          <a:bodyPr wrap="square" rtlCol="0">
            <a:spAutoFit/>
          </a:bodyPr>
          <a:lstStyle/>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1. PHP DOCUMENTATION - </a:t>
            </a:r>
            <a:r>
              <a:rPr lang="en-IN" sz="1800" u="sng" dirty="0">
                <a:solidFill>
                  <a:srgbClr val="000000"/>
                </a:solidFill>
                <a:effectLst/>
                <a:latin typeface="Times New Roman" panose="02020603050405020304" pitchFamily="18" charset="0"/>
                <a:ea typeface="Times New Roman" panose="02020603050405020304" pitchFamily="18" charset="0"/>
                <a:hlinkClick r:id="rId2"/>
              </a:rPr>
              <a:t>https://www.php.net/docs.php</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2. HTML DOCUMENTATION - </a:t>
            </a:r>
            <a:r>
              <a:rPr lang="en-IN" sz="1800" u="sng" dirty="0">
                <a:solidFill>
                  <a:srgbClr val="000000"/>
                </a:solidFill>
                <a:effectLst/>
                <a:latin typeface="Times New Roman" panose="02020603050405020304" pitchFamily="18" charset="0"/>
                <a:ea typeface="Times New Roman" panose="02020603050405020304" pitchFamily="18" charset="0"/>
                <a:hlinkClick r:id="rId2"/>
              </a:rPr>
              <a:t>https://www.php.net/docs.php</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3. BOOTSTRAP REFERENCES - </a:t>
            </a:r>
            <a:r>
              <a:rPr lang="en-IN" sz="1800" u="sng" dirty="0">
                <a:solidFill>
                  <a:srgbClr val="000000"/>
                </a:solidFill>
                <a:effectLst/>
                <a:latin typeface="Times New Roman" panose="02020603050405020304" pitchFamily="18" charset="0"/>
                <a:ea typeface="Times New Roman" panose="02020603050405020304" pitchFamily="18" charset="0"/>
                <a:hlinkClick r:id="rId3"/>
              </a:rPr>
              <a:t>https://getbootstrap.com/docs/4.1/getting-started/introduction/</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15240" marR="64135" indent="-6350">
              <a:lnSpc>
                <a:spcPct val="103000"/>
              </a:lnSpc>
              <a:spcAft>
                <a:spcPts val="60"/>
              </a:spcAft>
            </a:pPr>
            <a:r>
              <a:rPr lang="en-US" sz="1800" dirty="0">
                <a:solidFill>
                  <a:srgbClr val="000000"/>
                </a:solidFill>
                <a:effectLst/>
                <a:latin typeface="Times New Roman" panose="02020603050405020304" pitchFamily="18" charset="0"/>
                <a:ea typeface="Times New Roman" panose="02020603050405020304" pitchFamily="18" charset="0"/>
              </a:rPr>
              <a:t>4  Problem Statements on SIH - </a:t>
            </a:r>
            <a:r>
              <a:rPr lang="en-US" sz="1800" u="sng" dirty="0">
                <a:solidFill>
                  <a:srgbClr val="000000"/>
                </a:solidFill>
                <a:effectLst/>
                <a:latin typeface="Times New Roman" panose="02020603050405020304" pitchFamily="18" charset="0"/>
                <a:ea typeface="Times New Roman" panose="02020603050405020304" pitchFamily="18" charset="0"/>
                <a:hlinkClick r:id="rId4"/>
              </a:rPr>
              <a:t>https://www.sih.gov.in/sih2020PS</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5  Sample Ecommerce Application </a:t>
            </a:r>
            <a:r>
              <a:rPr lang="en-IN" sz="1800" u="sng" dirty="0">
                <a:solidFill>
                  <a:srgbClr val="000000"/>
                </a:solidFill>
                <a:effectLst/>
                <a:latin typeface="Times New Roman" panose="02020603050405020304" pitchFamily="18" charset="0"/>
                <a:ea typeface="Times New Roman" panose="02020603050405020304" pitchFamily="18" charset="0"/>
                <a:hlinkClick r:id="rId5"/>
              </a:rPr>
              <a:t>http://www.NewEgg.com</a:t>
            </a:r>
            <a:r>
              <a:rPr lang="en-IN" sz="1800" dirty="0">
                <a:solidFill>
                  <a:srgbClr val="000000"/>
                </a:solidFill>
                <a:effectLst/>
                <a:latin typeface="Times New Roman" panose="02020603050405020304" pitchFamily="18" charset="0"/>
                <a:ea typeface="Times New Roman" panose="02020603050405020304" pitchFamily="18" charset="0"/>
              </a:rPr>
              <a:t> </a:t>
            </a:r>
          </a:p>
          <a:p>
            <a:pPr marL="15240" marR="64135" indent="-6350">
              <a:lnSpc>
                <a:spcPct val="103000"/>
              </a:lnSpc>
              <a:spcAft>
                <a:spcPts val="60"/>
              </a:spcAft>
            </a:pPr>
            <a:r>
              <a:rPr lang="en-IN" sz="1800" dirty="0">
                <a:solidFill>
                  <a:srgbClr val="000000"/>
                </a:solidFill>
                <a:effectLst/>
                <a:latin typeface="Times New Roman" panose="02020603050405020304" pitchFamily="18" charset="0"/>
                <a:ea typeface="Times New Roman" panose="02020603050405020304" pitchFamily="18" charset="0"/>
              </a:rPr>
              <a:t>6   Ajax Toolkit controls  </a:t>
            </a:r>
            <a:r>
              <a:rPr lang="en-IN" sz="1800" u="sng" dirty="0">
                <a:solidFill>
                  <a:srgbClr val="000000"/>
                </a:solidFill>
                <a:effectLst/>
                <a:latin typeface="Times New Roman" panose="02020603050405020304" pitchFamily="18" charset="0"/>
                <a:ea typeface="Times New Roman" panose="02020603050405020304" pitchFamily="18" charset="0"/>
                <a:hlinkClick r:id="rId6"/>
              </a:rPr>
              <a:t>http://asp.net/ajax</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US" sz="1800" dirty="0">
                <a:solidFill>
                  <a:srgbClr val="000000"/>
                </a:solidFill>
                <a:effectLst/>
                <a:latin typeface="Times New Roman" panose="02020603050405020304" pitchFamily="18" charset="0"/>
                <a:ea typeface="Times New Roman" panose="02020603050405020304" pitchFamily="18" charset="0"/>
              </a:rPr>
              <a:t>7  </a:t>
            </a:r>
            <a:r>
              <a:rPr lang="en-US" sz="1800" dirty="0" err="1">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-SHOP: A Model for Smart Shopping, Journal by Authors- Anal Kumar; A.B.M. </a:t>
            </a:r>
            <a:r>
              <a:rPr lang="en-US" sz="1800" dirty="0" err="1">
                <a:solidFill>
                  <a:srgbClr val="000000"/>
                </a:solidFill>
                <a:effectLst/>
                <a:latin typeface="Times New Roman" panose="02020603050405020304" pitchFamily="18" charset="0"/>
                <a:ea typeface="Times New Roman" panose="02020603050405020304" pitchFamily="18" charset="0"/>
              </a:rPr>
              <a:t>Shawk</a:t>
            </a:r>
            <a:r>
              <a:rPr lang="en-US" sz="1800" dirty="0">
                <a:solidFill>
                  <a:srgbClr val="000000"/>
                </a:solidFill>
                <a:effectLst/>
                <a:latin typeface="Times New Roman" panose="02020603050405020304" pitchFamily="18" charset="0"/>
                <a:ea typeface="Times New Roman" panose="02020603050405020304" pitchFamily="18" charset="0"/>
              </a:rPr>
              <a:t> : </a:t>
            </a:r>
            <a:r>
              <a:rPr lang="en-US" sz="1800" u="sng" dirty="0">
                <a:solidFill>
                  <a:srgbClr val="000000"/>
                </a:solidFill>
                <a:effectLst/>
                <a:latin typeface="Times New Roman" panose="02020603050405020304" pitchFamily="18" charset="0"/>
                <a:ea typeface="Times New Roman" panose="02020603050405020304" pitchFamily="18" charset="0"/>
                <a:hlinkClick r:id="rId7"/>
              </a:rPr>
              <a:t>https://ieeexplore-ieee-org-vce.knimbus.com/document/7941952</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US" sz="1800" dirty="0">
                <a:solidFill>
                  <a:srgbClr val="000000"/>
                </a:solidFill>
                <a:effectLst/>
                <a:latin typeface="Times New Roman" panose="02020603050405020304" pitchFamily="18" charset="0"/>
                <a:ea typeface="Times New Roman" panose="02020603050405020304" pitchFamily="18" charset="0"/>
              </a:rPr>
              <a:t>8  Online re-purchase intention: Testing expectation confirmation model ECM on online shopping context in Iran :</a:t>
            </a:r>
            <a:r>
              <a:rPr lang="en-US" sz="1800" u="sng" dirty="0">
                <a:solidFill>
                  <a:srgbClr val="000000"/>
                </a:solidFill>
                <a:effectLst/>
                <a:latin typeface="Times New Roman" panose="02020603050405020304" pitchFamily="18" charset="0"/>
                <a:ea typeface="Times New Roman" panose="02020603050405020304" pitchFamily="18" charset="0"/>
                <a:hlinkClick r:id="rId8"/>
              </a:rPr>
              <a:t>https://ieeexplore-ieee-org-vce.knimbus.com/document/6836757</a:t>
            </a:r>
            <a:endParaRPr lang="en-IN" sz="1800" dirty="0">
              <a:solidFill>
                <a:srgbClr val="000000"/>
              </a:solidFill>
              <a:effectLst/>
              <a:latin typeface="Times New Roman" panose="02020603050405020304" pitchFamily="18" charset="0"/>
              <a:ea typeface="Times New Roman" panose="02020603050405020304" pitchFamily="18" charset="0"/>
            </a:endParaRPr>
          </a:p>
          <a:p>
            <a:pPr marL="15240" marR="64135" indent="-6350">
              <a:lnSpc>
                <a:spcPct val="103000"/>
              </a:lnSpc>
              <a:spcAft>
                <a:spcPts val="60"/>
              </a:spcAft>
            </a:pPr>
            <a:r>
              <a:rPr lang="en-US" sz="1800" dirty="0">
                <a:solidFill>
                  <a:srgbClr val="000000"/>
                </a:solidFill>
                <a:effectLst/>
                <a:latin typeface="Times New Roman" panose="02020603050405020304" pitchFamily="18" charset="0"/>
                <a:ea typeface="Times New Roman" panose="02020603050405020304" pitchFamily="18" charset="0"/>
              </a:rPr>
              <a:t>9  The Design and Implementation of the Online Shopping System -</a:t>
            </a:r>
            <a:r>
              <a:rPr lang="en-US" sz="1800" u="sng" dirty="0">
                <a:solidFill>
                  <a:srgbClr val="000000"/>
                </a:solidFill>
                <a:effectLst/>
                <a:latin typeface="Times New Roman" panose="02020603050405020304" pitchFamily="18" charset="0"/>
                <a:ea typeface="Times New Roman" panose="02020603050405020304" pitchFamily="18" charset="0"/>
                <a:hlinkClick r:id="rId9"/>
              </a:rPr>
              <a:t>https://ieeexplore.ieee.org/document/5571623</a:t>
            </a:r>
            <a:endParaRPr lang="en-IN" sz="1800" dirty="0">
              <a:solidFill>
                <a:srgbClr val="000000"/>
              </a:solidFill>
              <a:effectLst/>
              <a:latin typeface="Times New Roman" panose="02020603050405020304" pitchFamily="18" charset="0"/>
              <a:ea typeface="Times New Roman" panose="02020603050405020304" pitchFamily="18"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899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A8DCE-7D2F-4679-891F-A17F0B4F922B}"/>
              </a:ext>
            </a:extLst>
          </p:cNvPr>
          <p:cNvSpPr>
            <a:spLocks noGrp="1"/>
          </p:cNvSpPr>
          <p:nvPr>
            <p:ph type="title"/>
          </p:nvPr>
        </p:nvSpPr>
        <p:spPr/>
        <p:txBody>
          <a:bodyPr>
            <a:normAutofit/>
          </a:bodyPr>
          <a:lstStyle/>
          <a:p>
            <a:r>
              <a:rPr lang="en-IN" sz="5400" dirty="0"/>
              <a:t> </a:t>
            </a:r>
          </a:p>
        </p:txBody>
      </p:sp>
      <p:sp>
        <p:nvSpPr>
          <p:cNvPr id="4" name="TextBox 3">
            <a:extLst>
              <a:ext uri="{FF2B5EF4-FFF2-40B4-BE49-F238E27FC236}">
                <a16:creationId xmlns:a16="http://schemas.microsoft.com/office/drawing/2014/main" id="{0ACADC68-A1ED-482C-8CF7-22A574C164F1}"/>
              </a:ext>
            </a:extLst>
          </p:cNvPr>
          <p:cNvSpPr txBox="1"/>
          <p:nvPr/>
        </p:nvSpPr>
        <p:spPr>
          <a:xfrm>
            <a:off x="2740241" y="2921168"/>
            <a:ext cx="6711518" cy="1015663"/>
          </a:xfrm>
          <a:prstGeom prst="rect">
            <a:avLst/>
          </a:prstGeom>
          <a:noFill/>
        </p:spPr>
        <p:txBody>
          <a:bodyPr wrap="square" rtlCol="0">
            <a:spAutoFit/>
          </a:bodyPr>
          <a:lstStyle/>
          <a:p>
            <a:pPr algn="ctr"/>
            <a:r>
              <a:rPr lang="en-IN" sz="6000" b="1" dirty="0"/>
              <a:t>Thank You…</a:t>
            </a:r>
          </a:p>
        </p:txBody>
      </p:sp>
    </p:spTree>
    <p:extLst>
      <p:ext uri="{BB962C8B-B14F-4D97-AF65-F5344CB8AC3E}">
        <p14:creationId xmlns:p14="http://schemas.microsoft.com/office/powerpoint/2010/main" val="1600752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784</Words>
  <Application>Microsoft Office PowerPoint</Application>
  <PresentationFormat>Widescreen</PresentationFormat>
  <Paragraphs>95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PowerPoint Presentation</vt:lpstr>
      <vt:lpstr>Problem Statement</vt:lpstr>
      <vt:lpstr>Problem Statement</vt:lpstr>
      <vt:lpstr>Problem Statement</vt:lpstr>
      <vt:lpstr>Problem Statement</vt:lpstr>
      <vt:lpstr>Problem Statement</vt:lpstr>
      <vt:lpstr>Problem Statement</vt:lpstr>
      <vt:lpstr>Problem Statement</vt:lpstr>
      <vt:lpstr>Problem Statement</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Statement</vt:lpstr>
      <vt:lpstr>Problem Statement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Prajwal Reddy Dornala</dc:creator>
  <cp:lastModifiedBy>Prajwal Reddy Dornala</cp:lastModifiedBy>
  <cp:revision>20</cp:revision>
  <dcterms:created xsi:type="dcterms:W3CDTF">2021-12-26T19:20:54Z</dcterms:created>
  <dcterms:modified xsi:type="dcterms:W3CDTF">2021-12-26T19:49:49Z</dcterms:modified>
</cp:coreProperties>
</file>